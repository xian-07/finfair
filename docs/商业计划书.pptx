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明白金 FinFair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14600"/>
            <a:ext cx="106984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金融产品「公平说明书」Agent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不替你做决定，只把重要的事讲明白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6984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商业计划书 · 5 分钟路演  |  团队：XiAn-07 · 美泽 · （组员3）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5156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为什么现在做 · 大环境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19088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371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669280" cy="4754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监管驱动：了解产品、风险评级、充分告知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《金融机构产品适当性管理办法》明确要求向投资者充分披露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  <a:spcAft>
                <a:spcPts val="3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技术成熟：大模型长文本 / 多模态 / Agent 编排能力已可用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过去靠人工读几十页说明书，现在可由 Agent 自动完成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  <a:spcAft>
                <a:spcPts val="300"/>
              </a:spcAft>
            </a:pPr>
            <a:r>
              <a:rPr sz="15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• 两股力量在「现在」交汇 —— 正是入场的时机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2331720" cy="1554480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监管驱动</a:t>
            </a:r>
          </a:p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《适当性管理办法》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2057400"/>
            <a:ext cx="2331720" cy="1554480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技术成熟</a:t>
            </a:r>
          </a:p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 / Agent</a:t>
            </a:r>
          </a:p>
        </p:txBody>
      </p:sp>
      <p:sp>
        <p:nvSpPr>
          <p:cNvPr id="10" name="Oval 9"/>
          <p:cNvSpPr/>
          <p:nvPr/>
        </p:nvSpPr>
        <p:spPr>
          <a:xfrm>
            <a:off x="5074920" y="2148840"/>
            <a:ext cx="1920240" cy="1920240"/>
          </a:xfrm>
          <a:prstGeom prst="ellipse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现在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正是时机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80360" y="2697480"/>
            <a:ext cx="2103120" cy="457200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178040" y="2697480"/>
            <a:ext cx="2103120" cy="457200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754880"/>
            <a:ext cx="5486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监管 × 技术 交汇 → 消费者需要「购买前信息公平」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5156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用户痛点 · 为什么需要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19088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371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P3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669280" cy="4754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一份理财产品说明书往往 20–50 页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保本 / 收益 / 锁定期 / 费用 分散在不同章节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3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宣传海报几秒讲收益，风险与退出条件却被弱化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SEC / OECD 研究：个人投资者更想要「摘要式、分层式披露」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  <a:spcAft>
                <a:spcPts val="300"/>
              </a:spcAft>
            </a:pPr>
            <a:r>
              <a:rPr sz="1500" b="1" i="0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• 普通人：找不到、看不懂、比不对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417320"/>
            <a:ext cx="2194560" cy="868680"/>
          </a:xfrm>
          <a:prstGeom prst="roundRect">
            <a:avLst/>
          </a:prstGeom>
          <a:solidFill>
            <a:srgbClr val="F9A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保本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1417320"/>
            <a:ext cx="2194560" cy="868680"/>
          </a:xfrm>
          <a:prstGeom prst="roundRect">
            <a:avLst/>
          </a:prstGeom>
          <a:solidFill>
            <a:srgbClr val="F9A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业绩比较基准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3200400"/>
            <a:ext cx="2194560" cy="868680"/>
          </a:xfrm>
          <a:prstGeom prst="roundRect">
            <a:avLst/>
          </a:prstGeom>
          <a:solidFill>
            <a:srgbClr val="F9A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资金锁定期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5480" y="3200400"/>
            <a:ext cx="2194560" cy="868680"/>
          </a:xfrm>
          <a:prstGeom prst="roundRect">
            <a:avLst/>
          </a:prstGeom>
          <a:solidFill>
            <a:srgbClr val="F9A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费率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1737360" cy="12801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4206240"/>
            <a:ext cx="51206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普通人在几十页里，到底要去哪找这些关键信息？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5156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市场与竞争 · 目标用户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19088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371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P4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目标用户：金融消费者，尤其信息弱势人群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中老年、低金融素养者、首次购买理财的人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548640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4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5 款参照产品（示意）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Explain Documents（文档通俗解释）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BeforeYouPay（合同费用提取）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Contract Clarity Agent（风险分级）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FINRA Fund Analyzer（官方费用分析）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Financial Content Assistant（金融问答）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000" b="0" i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⚠️ 竞品能力为公开信息示意，以实际为准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9360" y="1325880"/>
          <a:ext cx="5394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94944"/>
                <a:gridCol w="694944"/>
                <a:gridCol w="694944"/>
                <a:gridCol w="694944"/>
                <a:gridCol w="694944"/>
              </a:tblGrid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产品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中国产品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宣传对比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原文引用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不做推荐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购买前场景</a:t>
                      </a:r>
                    </a:p>
                  </a:txBody>
                  <a:tcPr marL="27432" marR="27432" marT="18288" marB="18288" anchor="ctr">
                    <a:solidFill>
                      <a:srgbClr val="16213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8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Explain Documents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8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BeforeYouPay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8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Contract Clarity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8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FINRA Analyzer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2E7D32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2283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 Content Asst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F9A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△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C6282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27432" marR="27432" marT="18288" marB="18288" anchor="ctr">
                    <a:solidFill>
                      <a:srgbClr val="F4F6FA"/>
                    </a:solidFill>
                  </a:tcPr>
                </a:tc>
              </a:tr>
              <a:tr h="600894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明白金 FinFair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27432" marR="27432" marT="18288" marB="18288" anchor="ctr">
                    <a:solidFill>
                      <a:srgbClr val="D4A03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9360" y="5623560"/>
            <a:ext cx="53949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明白金 = 把能力组合到「消费者购买前信息公平」细分场景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5156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产品方案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19088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371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P5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48640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上传说明书 + 宣传文案 → 一键生成「公平说明书」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30 秒看懂：保本吗 / 收益多少 / 多久能取 / 收什么费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宣传材料检查：对照正式文件，揪出弱化与遗漏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购买前问题清单：帮你想清楚再决定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303520" cy="4297680"/>
          </a:xfrm>
          <a:prstGeom prst="roundRect">
            <a:avLst/>
          </a:prstGeom>
          <a:solidFill>
            <a:srgbClr val="24304E"/>
          </a:solidFill>
          <a:ln w="1905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108960"/>
            <a:ext cx="5303520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［ 产品主界面截图 ］</a:t>
            </a:r>
          </a:p>
          <a:p>
            <a:pPr algn="ctr">
              <a:lnSpc>
                <a:spcPct val="115000"/>
              </a:lnSpc>
              <a:spcBef>
                <a:spcPts val="600"/>
              </a:spcBef>
            </a:pPr>
            <a:r>
              <a:rPr sz="12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从 http://localhost:8501 截取全页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1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标出：上传区 / 开始生成按钮 / 报告 Tab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5156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核心用户流程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19088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371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P6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48840"/>
            <a:ext cx="1691640" cy="1143000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上传材料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1691640" cy="3657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PDF + 宣传文案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48840" y="2519172"/>
            <a:ext cx="292608" cy="402336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441448" y="2148840"/>
            <a:ext cx="169164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PDF 解析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1448" y="3291840"/>
            <a:ext cx="1691640" cy="3657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pdfplumber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33087" y="2519172"/>
            <a:ext cx="292608" cy="402336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25696" y="2148840"/>
            <a:ext cx="169164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提取 8 字段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696" y="3291840"/>
            <a:ext cx="1691640" cy="3657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core.py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117336" y="2519172"/>
            <a:ext cx="292608" cy="402336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9944" y="2148840"/>
            <a:ext cx="1691640" cy="114300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检查 6 规则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9944" y="3291840"/>
            <a:ext cx="1691640" cy="3657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对照宣传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101583" y="2519172"/>
            <a:ext cx="292608" cy="402336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94192" y="2148840"/>
            <a:ext cx="1691640" cy="1143000"/>
          </a:xfrm>
          <a:prstGeom prst="round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⑤ 证据核验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94192" y="3291840"/>
            <a:ext cx="1691640" cy="3657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原文页码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0085832" y="2519172"/>
            <a:ext cx="292608" cy="402336"/>
          </a:xfrm>
          <a:prstGeom prst="rightArrow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78440" y="2148840"/>
            <a:ext cx="1691640" cy="1143000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⑥ 生成报告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78440" y="3291840"/>
            <a:ext cx="1691640" cy="3657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MD / 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规则引擎把「天书」变成结构化结论，每一步都可追溯回原文页码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46320"/>
            <a:ext cx="1124712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解析 = 读 PDF 文字   提取 = 定位保本/收益/锁定期/费用   检查 = 对照宣传找差异   核验 = 结论回链原文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5156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与技术架构 · 防幻觉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19088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371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94960" cy="960120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规则引擎层（无需 AI 也能跑，演示不翻车）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14600"/>
            <a:ext cx="5394960" cy="1371600"/>
          </a:xfrm>
          <a:prstGeom prst="roundRect">
            <a:avLst/>
          </a:prstGeom>
          <a:solidFill>
            <a:srgbClr val="2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双 Agent 层</a:t>
            </a:r>
          </a:p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语义分析 Agent  ＋  证据核验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069080"/>
            <a:ext cx="5394960" cy="868680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安全层（强制 HTTPS、拒绝内网/本机 IP）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20640"/>
            <a:ext cx="539496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三道防线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① 证据核验 Agent   ② 程序化逐字引用校验   ③ 找不到标「未找到」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llm_agent.py · _endpoint（接口安全校验）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37360"/>
            <a:ext cx="5303520" cy="237744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828800"/>
            <a:ext cx="5029200" cy="2194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def _endpoint(base_url, protocol):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url = base_url.strip().rstrip('/')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parsed = urlparse(url)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if parsed.scheme != 'https':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raise AgentAPIError('必须是HTTPS')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host = parsed.hostname.lower()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if host == 'localhost' or host.endswith('.local'):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raise AgentAPIError('禁本机/内网')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ip = ipaddress.ip_address(host)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if ip.is_private or ip.is_loopback: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    raise AgentAPIError('禁内网地址')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return url + '/chat/completions'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114800"/>
            <a:ext cx="5303520" cy="1371600"/>
          </a:xfrm>
          <a:prstGeom prst="roundRect">
            <a:avLst/>
          </a:prstGeom>
          <a:solidFill>
            <a:srgbClr val="F4F6FA"/>
          </a:solidFill>
          <a:ln w="1524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② 逐字引用校验：机器自动比对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「结论」与「原文」是否一致</a:t>
            </a:r>
          </a:p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→ 大模型再聪明也编不出没出现的字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5156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19088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371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5486400" cy="2194560"/>
          </a:xfrm>
          <a:prstGeom prst="roundRect">
            <a:avLst/>
          </a:prstGeom>
          <a:solidFill>
            <a:srgbClr val="24304E"/>
          </a:solidFill>
          <a:ln w="1524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1097280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⚖️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645920"/>
            <a:ext cx="3931920" cy="1737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信息公平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不做产品推荐，只做信息公平，避开持牌红线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5352" y="1417320"/>
            <a:ext cx="5486400" cy="2194560"/>
          </a:xfrm>
          <a:prstGeom prst="roundRect">
            <a:avLst/>
          </a:prstGeom>
          <a:solidFill>
            <a:srgbClr val="24304E"/>
          </a:solidFill>
          <a:ln w="1524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600200"/>
            <a:ext cx="1097280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2" y="1645920"/>
            <a:ext cx="3931920" cy="1737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交叉核验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宣传 × 正式文件对比，揪出弱化与遗漏的风险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5486400" cy="2194560"/>
          </a:xfrm>
          <a:prstGeom prst="roundRect">
            <a:avLst/>
          </a:prstGeom>
          <a:solidFill>
            <a:srgbClr val="24304E"/>
          </a:solidFill>
          <a:ln w="1524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14800"/>
            <a:ext cx="1097280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160520"/>
            <a:ext cx="3931920" cy="1737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原文引用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每条结论可追溯到原文页码，可审计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931920"/>
            <a:ext cx="5486400" cy="2194560"/>
          </a:xfrm>
          <a:prstGeom prst="roundRect">
            <a:avLst/>
          </a:prstGeom>
          <a:solidFill>
            <a:srgbClr val="24304E"/>
          </a:solidFill>
          <a:ln w="1524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4114800"/>
            <a:ext cx="1097280" cy="9144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4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🛡️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16952" y="4160520"/>
            <a:ext cx="3931920" cy="17373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规则兜底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模型 + 规则协同，不依赖 AI 也能跑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5156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测试与效果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19088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371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P9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48640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1" i="0">
                <a:solidFill>
                  <a:srgbClr val="2E7D32"/>
                </a:solidFill>
                <a:latin typeface="Microsoft YaHei"/>
                <a:ea typeface="Microsoft YaHei"/>
                <a:cs typeface="Microsoft YaHei"/>
              </a:rPr>
              <a:t>• ✅ 自动化测试：6 个 pytest 用例通过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抽取准确率 / 引用准确率 对比 人工标准答案.json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未做外部用户测试 → 如实写「尚未完成外部用户验证」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400"/>
              </a:spcAft>
            </a:pPr>
            <a:r>
              <a:rPr sz="1200" b="0" i="1">
                <a:solidFill>
                  <a:srgbClr val="C62828"/>
                </a:solidFill>
                <a:latin typeface="Microsoft YaHei"/>
                <a:ea typeface="Microsoft YaHei"/>
                <a:cs typeface="Microsoft YaHei"/>
              </a:rPr>
              <a:t>• ⚠️ 不用团队反馈冒充用户研究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tests/test_core.py · test_demo_case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5303520" cy="31089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828800"/>
            <a:ext cx="5029200" cy="2926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def test_demo_case():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pages = extract_pdf_pages(PDF.read_bytes())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result = analyze_document(pages)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result = analyze_marketing(copy, pages, result)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fields = {i.label: i for i in result.fields}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assert '不保本' in fields['本金保障'].value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assert fields['业绩比较基准'].value == '3.20%'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assert fields['产品期限'].value == '180天'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assert '不能主动赎回' in fields['提前退出'].value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assert fields['固定管理费'].value == '0.30%/年'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rule_ids = {i.rule_id for i in result.findings}</a:t>
            </a:r>
          </a:p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4D4D4"/>
                </a:solidFill>
                <a:latin typeface="Consolas"/>
                <a:ea typeface="Consolas"/>
                <a:cs typeface="Consolas"/>
              </a:rPr>
              <a:t>    assert {'R01','R02','R04','R06','R08','R10'} &lt;= rule_ids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663440"/>
            <a:ext cx="5303520" cy="914400"/>
          </a:xfrm>
          <a:prstGeom prst="roundRect">
            <a:avLst/>
          </a:prstGeom>
          <a:solidFill>
            <a:srgbClr val="F4F6FA"/>
          </a:solidFill>
          <a:ln w="1524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结论可验证：每条断言都能回链到 sample_data 人工标准答案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5156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19088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371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P10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48640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• B2C 免费增值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免费：基础公平说明卡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付费：多产品对比 / PDF 报告 / 历史记录 / 适老语音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  <a:spcAft>
                <a:spcPts val="300"/>
              </a:spcAft>
            </a:pPr>
            <a:r>
              <a:rPr sz="15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• B2B 初审与部署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3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营销材料初审 / 产品说明通俗化 / 私有化 / API 接入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2468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B2C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794760"/>
            <a:ext cx="2468880" cy="731520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订阅</a:t>
            </a:r>
          </a:p>
        </p:txBody>
      </p:sp>
      <p:sp>
        <p:nvSpPr>
          <p:cNvPr id="10" name="Up Arrow 9"/>
          <p:cNvSpPr/>
          <p:nvPr/>
        </p:nvSpPr>
        <p:spPr>
          <a:xfrm>
            <a:off x="7452360" y="3794760"/>
            <a:ext cx="365760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0" y="2926079"/>
            <a:ext cx="2468880" cy="73152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高级报告</a:t>
            </a:r>
          </a:p>
        </p:txBody>
      </p:sp>
      <p:sp>
        <p:nvSpPr>
          <p:cNvPr id="12" name="Up Arrow 11"/>
          <p:cNvSpPr/>
          <p:nvPr/>
        </p:nvSpPr>
        <p:spPr>
          <a:xfrm>
            <a:off x="7452360" y="2926079"/>
            <a:ext cx="365760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2057399"/>
            <a:ext cx="2468880" cy="731520"/>
          </a:xfrm>
          <a:prstGeom prst="round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免费说明卡</a:t>
            </a:r>
          </a:p>
        </p:txBody>
      </p:sp>
      <p:sp>
        <p:nvSpPr>
          <p:cNvPr id="14" name="Up Arrow 13"/>
          <p:cNvSpPr/>
          <p:nvPr/>
        </p:nvSpPr>
        <p:spPr>
          <a:xfrm>
            <a:off x="7452360" y="2057399"/>
            <a:ext cx="365760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1371600"/>
            <a:ext cx="24688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6213A"/>
                </a:solidFill>
                <a:latin typeface="Microsoft YaHei"/>
                <a:ea typeface="Microsoft YaHei"/>
                <a:cs typeface="Microsoft YaHei"/>
              </a:rPr>
              <a:t>B2B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3794760"/>
            <a:ext cx="2468880" cy="731520"/>
          </a:xfrm>
          <a:prstGeom prst="round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API 接入</a:t>
            </a:r>
          </a:p>
        </p:txBody>
      </p:sp>
      <p:sp>
        <p:nvSpPr>
          <p:cNvPr id="17" name="Up Arrow 16"/>
          <p:cNvSpPr/>
          <p:nvPr/>
        </p:nvSpPr>
        <p:spPr>
          <a:xfrm>
            <a:off x="10287000" y="3794760"/>
            <a:ext cx="365760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35440" y="2926079"/>
            <a:ext cx="2468880" cy="731520"/>
          </a:xfrm>
          <a:prstGeom prst="round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私有化部署</a:t>
            </a:r>
          </a:p>
        </p:txBody>
      </p:sp>
      <p:sp>
        <p:nvSpPr>
          <p:cNvPr id="19" name="Up Arrow 18"/>
          <p:cNvSpPr/>
          <p:nvPr/>
        </p:nvSpPr>
        <p:spPr>
          <a:xfrm>
            <a:off x="10287000" y="2926079"/>
            <a:ext cx="365760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35440" y="2057399"/>
            <a:ext cx="2468880" cy="731520"/>
          </a:xfrm>
          <a:prstGeom prst="round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单次初审</a:t>
            </a:r>
          </a:p>
        </p:txBody>
      </p:sp>
      <p:sp>
        <p:nvSpPr>
          <p:cNvPr id="21" name="Up Arrow 20"/>
          <p:cNvSpPr/>
          <p:nvPr/>
        </p:nvSpPr>
        <p:spPr>
          <a:xfrm>
            <a:off x="10287000" y="2057399"/>
            <a:ext cx="365760" cy="182880"/>
          </a:xfrm>
          <a:prstGeom prst="upArrow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5156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用户触达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19088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371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486400" cy="3657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首批来源：校园金融教育 / 投资者教育 / 消保活动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线上：小红书 / B站 科普内容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保险理财社群、高校金融社团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路径：科普 → 免费卡 → 注册 → 高级报告 → 订阅</a:t>
            </a:r>
          </a:p>
        </p:txBody>
      </p:sp>
      <p:sp>
        <p:nvSpPr>
          <p:cNvPr id="8" name="Trapezoid 7"/>
          <p:cNvSpPr/>
          <p:nvPr/>
        </p:nvSpPr>
        <p:spPr>
          <a:xfrm>
            <a:off x="6583680" y="1463040"/>
            <a:ext cx="4937760" cy="749808"/>
          </a:xfrm>
          <a:prstGeom prst="trapezoid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科普内容</a:t>
            </a:r>
          </a:p>
        </p:txBody>
      </p:sp>
      <p:sp>
        <p:nvSpPr>
          <p:cNvPr id="9" name="Trapezoid 8"/>
          <p:cNvSpPr/>
          <p:nvPr/>
        </p:nvSpPr>
        <p:spPr>
          <a:xfrm>
            <a:off x="6949440" y="2304288"/>
            <a:ext cx="4206240" cy="749808"/>
          </a:xfrm>
          <a:prstGeom prst="trapezoid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免费公平说明卡</a:t>
            </a:r>
          </a:p>
        </p:txBody>
      </p:sp>
      <p:sp>
        <p:nvSpPr>
          <p:cNvPr id="10" name="Trapezoid 9"/>
          <p:cNvSpPr/>
          <p:nvPr/>
        </p:nvSpPr>
        <p:spPr>
          <a:xfrm>
            <a:off x="7315200" y="3145536"/>
            <a:ext cx="3474720" cy="749808"/>
          </a:xfrm>
          <a:prstGeom prst="trapezoid">
            <a:avLst/>
          </a:prstGeom>
          <a:solidFill>
            <a:srgbClr val="2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注册保存</a:t>
            </a:r>
          </a:p>
        </p:txBody>
      </p:sp>
      <p:sp>
        <p:nvSpPr>
          <p:cNvPr id="11" name="Trapezoid 10"/>
          <p:cNvSpPr/>
          <p:nvPr/>
        </p:nvSpPr>
        <p:spPr>
          <a:xfrm>
            <a:off x="7680960" y="3986784"/>
            <a:ext cx="2743200" cy="749808"/>
          </a:xfrm>
          <a:prstGeom prst="trapezoid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高级报告</a:t>
            </a:r>
          </a:p>
        </p:txBody>
      </p:sp>
      <p:sp>
        <p:nvSpPr>
          <p:cNvPr id="12" name="Trapezoid 11"/>
          <p:cNvSpPr/>
          <p:nvPr/>
        </p:nvSpPr>
        <p:spPr>
          <a:xfrm>
            <a:off x="8046720" y="4828032"/>
            <a:ext cx="2011680" cy="749808"/>
          </a:xfrm>
          <a:prstGeom prst="trapezoid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订阅 / 采购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05156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发展计划与请求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419088"/>
            <a:ext cx="8229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明白金 FinFair · 金融产品「公平说明书」Agent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19088"/>
            <a:ext cx="1371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P12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500" b="1" i="0">
                <a:solidFill>
                  <a:srgbClr val="222833"/>
                </a:solidFill>
                <a:latin typeface="Microsoft YaHei"/>
                <a:ea typeface="Microsoft YaHei"/>
                <a:cs typeface="Microsoft YaHei"/>
              </a:rPr>
              <a:t>• 扩展路径：银行理财 → 保险 / 基金 / 消费贷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sz="13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• 下一步：补外部用户验证、加海报 OCR、多产品对比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331720"/>
            <a:ext cx="5303520" cy="54864"/>
          </a:xfrm>
          <a:prstGeom prst="rect">
            <a:avLst/>
          </a:prstGeom>
          <a:solidFill>
            <a:srgbClr val="D4A0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6537959" y="2011680"/>
            <a:ext cx="822960" cy="822960"/>
          </a:xfrm>
          <a:prstGeom prst="ellipse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880360"/>
            <a:ext cx="1828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理财</a:t>
            </a:r>
          </a:p>
        </p:txBody>
      </p:sp>
      <p:sp>
        <p:nvSpPr>
          <p:cNvPr id="11" name="Oval 10"/>
          <p:cNvSpPr/>
          <p:nvPr/>
        </p:nvSpPr>
        <p:spPr>
          <a:xfrm>
            <a:off x="8641080" y="2011680"/>
            <a:ext cx="822960" cy="822960"/>
          </a:xfrm>
          <a:prstGeom prst="ellipse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近期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880360"/>
            <a:ext cx="1828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保险 · 基金</a:t>
            </a:r>
          </a:p>
        </p:txBody>
      </p:sp>
      <p:sp>
        <p:nvSpPr>
          <p:cNvPr id="13" name="Oval 12"/>
          <p:cNvSpPr/>
          <p:nvPr/>
        </p:nvSpPr>
        <p:spPr>
          <a:xfrm>
            <a:off x="10744200" y="2011680"/>
            <a:ext cx="822960" cy="822960"/>
          </a:xfrm>
          <a:prstGeom prst="ellipse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未来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2880360"/>
            <a:ext cx="18288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5B6372"/>
                </a:solidFill>
                <a:latin typeface="Microsoft YaHei"/>
                <a:ea typeface="Microsoft YaHei"/>
                <a:cs typeface="Microsoft YaHei"/>
              </a:rPr>
              <a:t>消费贷 ·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3474720" cy="1371600"/>
          </a:xfrm>
          <a:prstGeom prst="roundRect">
            <a:avLst/>
          </a:prstGeom>
          <a:solidFill>
            <a:srgbClr val="24304E"/>
          </a:solidFill>
          <a:ln w="1524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43400"/>
            <a:ext cx="3108960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导师指导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方向与资源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4206240"/>
            <a:ext cx="3474720" cy="1371600"/>
          </a:xfrm>
          <a:prstGeom prst="roundRect">
            <a:avLst/>
          </a:prstGeom>
          <a:solidFill>
            <a:srgbClr val="24304E"/>
          </a:solidFill>
          <a:ln w="1524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343400"/>
            <a:ext cx="3108960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测试用户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真实场景验证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206240"/>
            <a:ext cx="3474720" cy="1371600"/>
          </a:xfrm>
          <a:prstGeom prst="roundRect">
            <a:avLst/>
          </a:prstGeom>
          <a:solidFill>
            <a:srgbClr val="24304E"/>
          </a:solidFill>
          <a:ln w="15240">
            <a:solidFill>
              <a:srgbClr val="D4A0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343400"/>
            <a:ext cx="3108960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D4A037"/>
                </a:solidFill>
                <a:latin typeface="Microsoft YaHei"/>
                <a:ea typeface="Microsoft YaHei"/>
                <a:cs typeface="Microsoft YaHei"/>
              </a:rPr>
              <a:t>合作机构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00" b="0" i="0">
                <a:solidFill>
                  <a:srgbClr val="F4F6FA"/>
                </a:solidFill>
                <a:latin typeface="Microsoft YaHei"/>
                <a:ea typeface="Microsoft YaHei"/>
                <a:cs typeface="Microsoft YaHei"/>
              </a:rPr>
              <a:t>数据 / 渠道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
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67712"/>
            <a:ext cx="12191695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78992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明白金 FinFair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50592"/>
            <a:ext cx="107899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金融产品「公平说明书」Agent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83280"/>
            <a:ext cx="1078992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不替你做决定，只把重要的事讲明白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78992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A0A8B4"/>
                </a:solidFill>
                <a:latin typeface="Microsoft YaHei"/>
                <a:ea typeface="Microsoft YaHei"/>
                <a:cs typeface="Microsoft YaHei"/>
              </a:rPr>
              <a:t>商业计划书 · 5 分钟路演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107899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团队：XiAn-07 · 美泽 · （组员3）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为什么现在做 · 大环境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5303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监管驱动：了解产品、风险评级、充分告知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《金融机构产品适当性管理办法》明确要求向投资者充分披露关键信息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</a:pPr>
            <a:r>
              <a:rPr sz="1500" b="1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技术成熟：大模型长文本理解 / 多模态 / Agent 编排能力已商用化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过去靠人工逐行阅读几十页说明书，现在可由 Agent 自动完成结构化提取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300"/>
              </a:spcAft>
            </a:pPr>
            <a:r>
              <a:rPr sz="15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• 两股力量在「现在」交汇 —— 正是入场的最佳时机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011680"/>
            <a:ext cx="2423160" cy="15087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监管驱动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《适当性管理办法》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充分披露要求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011680"/>
            <a:ext cx="2423160" cy="150876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技术成熟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大模型 / Agent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长文本能力</a:t>
            </a:r>
          </a:p>
        </p:txBody>
      </p:sp>
      <p:sp>
        <p:nvSpPr>
          <p:cNvPr id="10" name="Oval 9"/>
          <p:cNvSpPr/>
          <p:nvPr/>
        </p:nvSpPr>
        <p:spPr>
          <a:xfrm>
            <a:off x="8138160" y="2103120"/>
            <a:ext cx="1920240" cy="1920240"/>
          </a:xfrm>
          <a:prstGeom prst="ellipse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正是时机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98280" y="2633472"/>
            <a:ext cx="2011680" cy="475488"/>
          </a:xfrm>
          <a:prstGeom prst="rightArrow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12390120" y="2633472"/>
            <a:ext cx="2011680" cy="475488"/>
          </a:xfrm>
          <a:prstGeom prst="rightArrow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434840"/>
            <a:ext cx="4967935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监管 × 技术 交汇 → 消费者需要「购买前信息公平」工具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用户痛点 · 为什么需要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一份理财产品说明书往往 20–50 页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保本 / 收益 / 锁定期 / 费用 分散在不同章节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500" b="1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宣传海报几秒讲收益，风险与退出条件却被弱化或遗漏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SEC / OECD 研究：个人投资者更想要「摘要式、分层式披露」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500" b="1" i="0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• 普通人面对金融文件：找不到、看不懂、比不对</a:t>
            </a:r>
          </a:p>
        </p:txBody>
      </p:sp>
      <p:pic>
        <p:nvPicPr>
          <p:cNvPr id="8" name="Picture 7" descr="说明书脱敏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005840"/>
            <a:ext cx="3814030" cy="5394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37960" y="6035040"/>
            <a:ext cx="5059375" cy="411480"/>
          </a:xfrm>
          <a:prstGeom prst="roundRect">
            <a:avLst/>
          </a:prstGeom>
          <a:solidFill>
            <a:srgbClr val="F0E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↑ 模拟理财产品说明书第 2 页：关键条件散落各处，普通人难以快速定位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市场与竞争 · 目标用户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目标用户：金融消费者，尤其信息弱势人群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中老年、低金融素养者、首次购买理财的人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5577840" cy="2926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5 款参照产品（公开检索示意）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Explain Documents —— 通用文档通俗解释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BeforeYouPay —— 合同费用提取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Contract Clarity Agent —— 风险分级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FINRA Fund Analyzer —— 官方基金费用分析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Financial Content Assistant —— 金融 RAG 问答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000" b="0" i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⚠️ 竞品能力基于公开信息，以实际为准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005840"/>
          <a:ext cx="5532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13232"/>
                <a:gridCol w="713232"/>
                <a:gridCol w="713232"/>
                <a:gridCol w="713232"/>
                <a:gridCol w="713232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产品</a:t>
                      </a:r>
                    </a:p>
                  </a:txBody>
                  <a:tcPr marL="27432" marR="27432" marT="18288" marB="18288" anchor="ctr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中国产品</a:t>
                      </a:r>
                    </a:p>
                  </a:txBody>
                  <a:tcPr marL="27432" marR="27432" marT="18288" marB="18288" anchor="ctr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宣传对比</a:t>
                      </a:r>
                    </a:p>
                  </a:txBody>
                  <a:tcPr marL="27432" marR="27432" marT="18288" marB="18288" anchor="ctr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原文引用</a:t>
                      </a:r>
                    </a:p>
                  </a:txBody>
                  <a:tcPr marL="27432" marR="27432" marT="18288" marB="18288" anchor="ctr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不做推荐</a:t>
                      </a:r>
                    </a:p>
                  </a:txBody>
                  <a:tcPr marL="27432" marR="27432" marT="18288" marB="18288" anchor="ctr">
                    <a:solidFill>
                      <a:srgbClr val="1621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购买前场景</a:t>
                      </a:r>
                    </a:p>
                  </a:txBody>
                  <a:tcPr marL="27432" marR="27432" marT="18288" marB="18288" anchor="ctr">
                    <a:solidFill>
                      <a:srgbClr val="1621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Explain Docs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BeforeYouPay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Contract Clarity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FINRA Analyzer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E7D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228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 Content Asst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F9A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△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C6282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✗</a:t>
                      </a:r>
                    </a:p>
                  </a:txBody>
                  <a:tcPr marL="27432" marR="27432" marT="18288" marB="18288" anchor="ctr">
                    <a:solidFill>
                      <a:srgbClr val="F4F6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明白金 FinFair</a:t>
                      </a:r>
                    </a:p>
                  </a:txBody>
                  <a:tcPr marL="27432" marR="27432" marT="18288" marB="18288" anchor="ctr">
                    <a:solidFill>
                      <a:srgbClr val="D4A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D4A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D4A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D4A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D4A0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✓</a:t>
                      </a:r>
                    </a:p>
                  </a:txBody>
                  <a:tcPr marL="27432" marR="27432" marT="18288" marB="18288" anchor="ctr">
                    <a:solidFill>
                      <a:srgbClr val="D4A03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6126480"/>
            <a:ext cx="5333695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明白金 = 把「上传+对比+引用+不推荐+聚焦购买前」组合到细分场景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3200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一句话流程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400" b="0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上传说明书 PDF + 粘贴宣传文案 → 一键生成「公平说明书」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四大输出模块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30 秒看懂：保本吗 / 收益多少 / 多久能取 / 收什么费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宣传材料检查：对照正式文件，揪出弱化与遗漏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购买前问题清单：帮你想清楚再决定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结构化结果：Markdown / JSON / Word 可下载</a:t>
            </a:r>
          </a:p>
        </p:txBody>
      </p:sp>
      <p:pic>
        <p:nvPicPr>
          <p:cNvPr id="8" name="Picture 7" descr="ui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51560"/>
            <a:ext cx="5150815" cy="33936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92240" y="6080760"/>
            <a:ext cx="5150815" cy="384048"/>
          </a:xfrm>
          <a:prstGeom prst="roundRect">
            <a:avLst/>
          </a:prstGeom>
          <a:solidFill>
            <a:srgbClr val="F0E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↑ 明白金 FinFair 产品主界面（Streamlit Web App）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核心用户流程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664208" cy="1078992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上传材料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410711"/>
            <a:ext cx="1664208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PDF + 宣传文案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21408" y="2706623"/>
            <a:ext cx="237744" cy="329184"/>
          </a:xfrm>
          <a:prstGeom prst="rightArrow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59152" y="2331720"/>
            <a:ext cx="1664208" cy="107899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PDF 解析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3410711"/>
            <a:ext cx="1664208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pdfplumber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60" y="2706623"/>
            <a:ext cx="237744" cy="329184"/>
          </a:xfrm>
          <a:prstGeom prst="rightArrow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61104" y="2331720"/>
            <a:ext cx="1664208" cy="107899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提取 8 字段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1104" y="3410711"/>
            <a:ext cx="1664208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core.py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25312" y="2706623"/>
            <a:ext cx="237744" cy="329184"/>
          </a:xfrm>
          <a:prstGeom prst="rightArrow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2331720"/>
            <a:ext cx="1664208" cy="107899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 检查 6 规则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3410711"/>
            <a:ext cx="1664208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对照宣传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27264" y="2706623"/>
            <a:ext cx="237744" cy="329184"/>
          </a:xfrm>
          <a:prstGeom prst="rightArrow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65008" y="2331720"/>
            <a:ext cx="1664208" cy="1078992"/>
          </a:xfrm>
          <a:prstGeom prst="round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⑤ 证据核验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3410711"/>
            <a:ext cx="1664208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原文页码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29216" y="2706623"/>
            <a:ext cx="237744" cy="329184"/>
          </a:xfrm>
          <a:prstGeom prst="rightArrow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66960" y="2331720"/>
            <a:ext cx="1664208" cy="1078992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⑥ 生成报告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3410711"/>
            <a:ext cx="1664208" cy="32918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MD /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11277295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规则引擎把「天书」变成结构化结论，每一步都可追溯回原文页码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11277295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解析 = 读 PDF 文字   提取 = 定位保本/收益/锁定期/费用   检查 = 对照宣传找差异   核验 = 结论回链原文页码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与技术架构 · 防幻觉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577840" cy="914400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规则引擎层（无需 AI 也能跑，演示不翻车）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5577840" cy="1417320"/>
          </a:xfrm>
          <a:prstGeom prst="roundRect">
            <a:avLst/>
          </a:prstGeom>
          <a:solidFill>
            <a:srgbClr val="24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 Agent 层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语义分析 Agent  ＋  证据核验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11880"/>
            <a:ext cx="5577840" cy="841248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安全层（强制 HTTPS、拒绝内网/本机 IP）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394959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三道防线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① 证据核验 Agent 审查大模型输出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② 程序化逐字引用校验（机器自动比对）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③ 找不到就标「未找到」，绝不拿常识补全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333695" cy="347472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llm_agent.py :: _endpoint（接口安全校验）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53312"/>
            <a:ext cx="5333695" cy="23317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444752"/>
            <a:ext cx="5114239" cy="2148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def _endpoint(base_url, protocol):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url = base_url.strip().rstrip('/')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parsed = urlparse(url)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if parsed.scheme != 'https':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raise AgentAPIError('必须是HTTPS')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host = parsed.hostname.lower()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if host == 'localhost' or host.endswith('.local'):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raise AgentAPIError('禁本机/内网')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ip = ipaddress.ip_address(host)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if ip.is_private or ip.is_loopback: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    raise AgentAPIError('禁内网地址')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return url + '/chat/completions'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794760"/>
            <a:ext cx="5333695" cy="1234440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② 逐字引用校验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机器自动比对「结论」与「原文」是否一致</a:t>
            </a:r>
          </a:p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→ 大模型再聪明也编不出没出现的字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5440680" cy="2148840"/>
          </a:xfrm>
          <a:prstGeom prst="roundRect">
            <a:avLst/>
          </a:prstGeom>
          <a:solidFill>
            <a:srgbClr val="24304E"/>
          </a:solidFill>
          <a:ln w="1651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Oval 7"/>
          <p:cNvSpPr/>
          <p:nvPr/>
        </p:nvSpPr>
        <p:spPr>
          <a:xfrm>
            <a:off x="621792" y="1207008"/>
            <a:ext cx="566928" cy="566928"/>
          </a:xfrm>
          <a:prstGeom prst="ellipse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07008"/>
            <a:ext cx="4389120" cy="1746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信息公平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不做产品推荐，只做信息公平
避开金融持牌红线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440680" cy="2148840"/>
          </a:xfrm>
          <a:prstGeom prst="roundRect">
            <a:avLst/>
          </a:prstGeom>
          <a:solidFill>
            <a:srgbClr val="24304E"/>
          </a:solidFill>
          <a:ln w="1651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6382512" y="1207008"/>
            <a:ext cx="566928" cy="566928"/>
          </a:xfrm>
          <a:prstGeom prst="ellipse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07008"/>
            <a:ext cx="4389120" cy="1746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交叉核验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宣传 × 正式文件对比
揪出弱化与遗漏的风险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447288"/>
            <a:ext cx="5440680" cy="2148840"/>
          </a:xfrm>
          <a:prstGeom prst="roundRect">
            <a:avLst/>
          </a:prstGeom>
          <a:solidFill>
            <a:srgbClr val="24304E"/>
          </a:solidFill>
          <a:ln w="1651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621792" y="3648456"/>
            <a:ext cx="566928" cy="566928"/>
          </a:xfrm>
          <a:prstGeom prst="ellipse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48456"/>
            <a:ext cx="4389120" cy="1746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原文引用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每条结论可追溯到原文页码
第三方可审计验证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447288"/>
            <a:ext cx="5440680" cy="2148840"/>
          </a:xfrm>
          <a:prstGeom prst="roundRect">
            <a:avLst/>
          </a:prstGeom>
          <a:solidFill>
            <a:srgbClr val="24304E"/>
          </a:solidFill>
          <a:ln w="1651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6382512" y="3648456"/>
            <a:ext cx="566928" cy="566928"/>
          </a:xfrm>
          <a:prstGeom prst="ellipse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648456"/>
            <a:ext cx="4389120" cy="1746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规则兜底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2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模型 + 规则协同运行
不依赖 AI 也能稳定出结果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3474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• ✅ 自动化测试：7 个 pytest 用例全部通过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三类核心场景测试：标准案例 / 信息遗漏 / 宣传冲突 全部通过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混合 Agent 测试：双Agent / 逐字引用校验 / 幻觉拦截 / 接口安全等 8 项全通过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标准案例实测：字段提取 8/8 ✓  |  宣传问题发现 6/6 ✓  |  页码证据完整 ✓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200" b="0" i="1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• ⚠️ 尚未完成外部用户验证（如实标注，不用团队反馈冒充）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05840"/>
            <a:ext cx="5333695" cy="347472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tests/test_core.py :: test_demo_case（自动化断言）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53312"/>
            <a:ext cx="5333695" cy="28803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1444752"/>
            <a:ext cx="5114239" cy="2697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def test_demo_case():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pages = extract_pdf_pages(PDF.read_bytes())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result = analyze_document(pages)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result = analyze_marketing(copy, pages, result)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fields = {i.label: i for i in result.fields}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assert '不保本' in fields['本金保障'].value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assert fields['业绩比较基准'].value == '3.20%'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assert fields['产品期限'].value == '180天'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assert '不能主动赎回' in fields['提前退出'].value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rule_ids = {i.rule_id for i in result.findings}</a:t>
            </a:r>
          </a:p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    assert {'R01','R02','R04','R06','R08','R10'} &lt;= rule_ids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43400"/>
            <a:ext cx="5333695" cy="804672"/>
          </a:xfrm>
          <a:prstGeom prst="roundRect">
            <a:avLst/>
          </a:prstGeom>
          <a:solidFill>
            <a:srgbClr val="F4F6FA"/>
          </a:solidFill>
          <a:ln w="1524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每条断言均可回链到 sample_data/人工标准答案.json 进行独立验证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B2C 免费增值模式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免费版：基础公平说明卡（一键生成，零门槛）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个人付费版：多产品横向对比 / PDF 报告下载 / 历史记录 / 适老语音播报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B2B 企业服务模式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营销材料初审（消保合规审查）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产品说明通俗化（面向零售客户）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私有化部署 / API 接入（银行 / 券商 / 第三方平台）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005840"/>
            <a:ext cx="248716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B2C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867911"/>
            <a:ext cx="2487168" cy="713232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订阅会员</a:t>
            </a:r>
          </a:p>
        </p:txBody>
      </p:sp>
      <p:sp>
        <p:nvSpPr>
          <p:cNvPr id="10" name="Up Arrow 9"/>
          <p:cNvSpPr/>
          <p:nvPr/>
        </p:nvSpPr>
        <p:spPr>
          <a:xfrm>
            <a:off x="7534656" y="3867911"/>
            <a:ext cx="384048" cy="182880"/>
          </a:xfrm>
          <a:prstGeom prst="up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37960" y="3008375"/>
            <a:ext cx="2487168" cy="7132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高级报告</a:t>
            </a:r>
          </a:p>
        </p:txBody>
      </p:sp>
      <p:sp>
        <p:nvSpPr>
          <p:cNvPr id="12" name="Up Arrow 11"/>
          <p:cNvSpPr/>
          <p:nvPr/>
        </p:nvSpPr>
        <p:spPr>
          <a:xfrm>
            <a:off x="7534656" y="3008375"/>
            <a:ext cx="384048" cy="182880"/>
          </a:xfrm>
          <a:prstGeom prst="up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148839"/>
            <a:ext cx="2487168" cy="713232"/>
          </a:xfrm>
          <a:prstGeom prst="round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免费说明卡</a:t>
            </a:r>
          </a:p>
        </p:txBody>
      </p:sp>
      <p:sp>
        <p:nvSpPr>
          <p:cNvPr id="14" name="Up Arrow 13"/>
          <p:cNvSpPr/>
          <p:nvPr/>
        </p:nvSpPr>
        <p:spPr>
          <a:xfrm>
            <a:off x="7534656" y="2148839"/>
            <a:ext cx="384048" cy="182880"/>
          </a:xfrm>
          <a:prstGeom prst="up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005840"/>
            <a:ext cx="2487168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B2B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3867911"/>
            <a:ext cx="2487168" cy="713232"/>
          </a:xfrm>
          <a:prstGeom prst="round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API 接入</a:t>
            </a:r>
          </a:p>
        </p:txBody>
      </p:sp>
      <p:sp>
        <p:nvSpPr>
          <p:cNvPr id="17" name="Up Arrow 16"/>
          <p:cNvSpPr/>
          <p:nvPr/>
        </p:nvSpPr>
        <p:spPr>
          <a:xfrm>
            <a:off x="10643616" y="3867911"/>
            <a:ext cx="384048" cy="182880"/>
          </a:xfrm>
          <a:prstGeom prst="up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20" y="3008375"/>
            <a:ext cx="2487168" cy="713232"/>
          </a:xfrm>
          <a:prstGeom prst="round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私有化部署</a:t>
            </a:r>
          </a:p>
        </p:txBody>
      </p:sp>
      <p:sp>
        <p:nvSpPr>
          <p:cNvPr id="19" name="Up Arrow 18"/>
          <p:cNvSpPr/>
          <p:nvPr/>
        </p:nvSpPr>
        <p:spPr>
          <a:xfrm>
            <a:off x="10643616" y="3008375"/>
            <a:ext cx="384048" cy="182880"/>
          </a:xfrm>
          <a:prstGeom prst="up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6920" y="2148839"/>
            <a:ext cx="2487168" cy="713232"/>
          </a:xfrm>
          <a:prstGeom prst="round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单次初审</a:t>
            </a:r>
          </a:p>
        </p:txBody>
      </p:sp>
      <p:sp>
        <p:nvSpPr>
          <p:cNvPr id="21" name="Up Arrow 20"/>
          <p:cNvSpPr/>
          <p:nvPr/>
        </p:nvSpPr>
        <p:spPr>
          <a:xfrm>
            <a:off x="10643616" y="2148839"/>
            <a:ext cx="384048" cy="182880"/>
          </a:xfrm>
          <a:prstGeom prst="upArrow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用户触达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3657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首批用户来源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校园金融教育活动 / 投资者教育 / 消保活动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线上获客渠道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小红书 / B站 金融科普内容（短视频 / 图文）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保险理财社群、高校金融社团、知乎理财话题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转化路径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科普内容引流 → 免费公平说明卡体验 → 注册保存历史 → 高级功能订阅 / B2B 采购</a:t>
            </a:r>
          </a:p>
        </p:txBody>
      </p:sp>
      <p:sp>
        <p:nvSpPr>
          <p:cNvPr id="8" name="Trapezoid 7"/>
          <p:cNvSpPr/>
          <p:nvPr/>
        </p:nvSpPr>
        <p:spPr>
          <a:xfrm>
            <a:off x="6515100" y="1143000"/>
            <a:ext cx="4892040" cy="713232"/>
          </a:xfrm>
          <a:prstGeom prst="trapezoid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科普内容</a:t>
            </a:r>
          </a:p>
        </p:txBody>
      </p:sp>
      <p:sp>
        <p:nvSpPr>
          <p:cNvPr id="9" name="Trapezoid 8"/>
          <p:cNvSpPr/>
          <p:nvPr/>
        </p:nvSpPr>
        <p:spPr>
          <a:xfrm>
            <a:off x="6880860" y="1929384"/>
            <a:ext cx="4160520" cy="713232"/>
          </a:xfrm>
          <a:prstGeom prst="trapezoid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免费公平说明卡</a:t>
            </a:r>
          </a:p>
        </p:txBody>
      </p:sp>
      <p:sp>
        <p:nvSpPr>
          <p:cNvPr id="10" name="Trapezoid 9"/>
          <p:cNvSpPr/>
          <p:nvPr/>
        </p:nvSpPr>
        <p:spPr>
          <a:xfrm>
            <a:off x="7246620" y="2715768"/>
            <a:ext cx="3429000" cy="713232"/>
          </a:xfrm>
          <a:prstGeom prst="trapezoid">
            <a:avLst/>
          </a:prstGeom>
          <a:solidFill>
            <a:srgbClr val="2430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注册保存</a:t>
            </a:r>
          </a:p>
        </p:txBody>
      </p:sp>
      <p:sp>
        <p:nvSpPr>
          <p:cNvPr id="11" name="Trapezoid 10"/>
          <p:cNvSpPr/>
          <p:nvPr/>
        </p:nvSpPr>
        <p:spPr>
          <a:xfrm>
            <a:off x="7612380" y="3502151"/>
            <a:ext cx="2697480" cy="713232"/>
          </a:xfrm>
          <a:prstGeom prst="trapezoid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高级报告</a:t>
            </a:r>
          </a:p>
        </p:txBody>
      </p:sp>
      <p:sp>
        <p:nvSpPr>
          <p:cNvPr id="12" name="Trapezoid 11"/>
          <p:cNvSpPr/>
          <p:nvPr/>
        </p:nvSpPr>
        <p:spPr>
          <a:xfrm>
            <a:off x="7978140" y="4288536"/>
            <a:ext cx="1965960" cy="713232"/>
          </a:xfrm>
          <a:prstGeom prst="trapezoid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订阅 / 采购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91440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3152"/>
            <a:ext cx="1051560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发展计划与请求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64008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明白金 FinFair · 金融产品「公平说明书」Agent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50876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P12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577840" cy="2560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500" b="1" i="0">
                <a:solidFill>
                  <a:srgbClr val="222833"/>
                </a:solidFill>
                <a:latin typeface="Microsoft YaHei"/>
                <a:ea typeface="Microsoft YaHei"/>
                <a:cs typeface="Microsoft YaHei"/>
              </a:rPr>
              <a:t>• 扩展路径：从银行理财 → 保险 / 基金 / 消费贷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覆盖更多金融消费者，让「购买前信息公平」成为行业标配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  <a:spcAft>
                <a:spcPts val="300"/>
              </a:spcAft>
            </a:pPr>
            <a:r>
              <a:rPr sz="1500" b="1" i="0">
                <a:solidFill>
                  <a:srgbClr val="16213A"/>
                </a:solidFill>
                <a:latin typeface="Microsoft YaHei"/>
                <a:ea typeface="Microsoft YaHei"/>
                <a:cs typeface="Microsoft YaHei"/>
              </a:rPr>
              <a:t>• 下一步重点工作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补外部用户真实验证（招募志愿者试用并收集反馈）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接入海报图片 OCR（识别宣传图片中的关键文字）</a:t>
            </a:r>
          </a:p>
          <a:p>
            <a:pPr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sz="13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• 支持多产品横向对比（同时上传 2–3 份说明书生成对比表）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395728"/>
            <a:ext cx="5333695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val 8"/>
          <p:cNvSpPr/>
          <p:nvPr/>
        </p:nvSpPr>
        <p:spPr>
          <a:xfrm>
            <a:off x="6784848" y="2075688"/>
            <a:ext cx="786384" cy="786384"/>
          </a:xfrm>
          <a:prstGeom prst="ellipse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7" y="2953512"/>
            <a:ext cx="179222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银行理财</a:t>
            </a:r>
          </a:p>
        </p:txBody>
      </p:sp>
      <p:sp>
        <p:nvSpPr>
          <p:cNvPr id="11" name="Oval 10"/>
          <p:cNvSpPr/>
          <p:nvPr/>
        </p:nvSpPr>
        <p:spPr>
          <a:xfrm>
            <a:off x="9253728" y="2075688"/>
            <a:ext cx="786384" cy="786384"/>
          </a:xfrm>
          <a:prstGeom prst="ellipse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2953512"/>
            <a:ext cx="179222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保险·基金</a:t>
            </a:r>
          </a:p>
        </p:txBody>
      </p:sp>
      <p:sp>
        <p:nvSpPr>
          <p:cNvPr id="13" name="Oval 12"/>
          <p:cNvSpPr/>
          <p:nvPr/>
        </p:nvSpPr>
        <p:spPr>
          <a:xfrm>
            <a:off x="11722608" y="2075688"/>
            <a:ext cx="786384" cy="786384"/>
          </a:xfrm>
          <a:prstGeom prst="ellipse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19688" y="2953512"/>
            <a:ext cx="1792224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5B6372"/>
                </a:solidFill>
                <a:latin typeface="Microsoft YaHei"/>
                <a:ea typeface="Microsoft YaHei"/>
                <a:cs typeface="Microsoft YaHei"/>
              </a:rPr>
              <a:t>消费贷·API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60"/>
            <a:ext cx="3547872" cy="1417320"/>
          </a:xfrm>
          <a:prstGeom prst="roundRect">
            <a:avLst/>
          </a:prstGeom>
          <a:solidFill>
            <a:srgbClr val="24304E"/>
          </a:solidFill>
          <a:ln w="1651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389120"/>
            <a:ext cx="3218688" cy="11612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导师指导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方向指引与资源对接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7952" y="4251960"/>
            <a:ext cx="3547872" cy="1417320"/>
          </a:xfrm>
          <a:prstGeom prst="roundRect">
            <a:avLst/>
          </a:prstGeom>
          <a:solidFill>
            <a:srgbClr val="24304E"/>
          </a:solidFill>
          <a:ln w="1651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4389120"/>
            <a:ext cx="3218688" cy="11612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测试用户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真实场景验证反馈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18704" y="4251960"/>
            <a:ext cx="3547872" cy="1417320"/>
          </a:xfrm>
          <a:prstGeom prst="roundRect">
            <a:avLst/>
          </a:prstGeom>
          <a:solidFill>
            <a:srgbClr val="24304E"/>
          </a:solidFill>
          <a:ln w="16510">
            <a:solidFill>
              <a:srgbClr val="D4A0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4389120"/>
            <a:ext cx="3218688" cy="11612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D4A037"/>
                </a:solidFill>
                <a:latin typeface="Microsoft YaHei"/>
                <a:ea typeface="Microsoft YaHei"/>
                <a:cs typeface="Microsoft YaHei"/>
              </a:rPr>
              <a:t>合作机构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200" b="0" i="0">
                <a:solidFill>
                  <a:srgbClr val="F4F6FA"/>
                </a:solidFill>
                <a:latin typeface="Microsoft YaHei"/>
                <a:ea typeface="Microsoft YaHei"/>
                <a:cs typeface="Microsoft YaHei"/>
              </a:rPr>
              <a:t>数据源 / 渠道 / 场景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